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solidFill>
              <a:srgbClr val="E8543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Basic</c:v>
                  </c:pt>
                  <c:pt idx="1">
                    <c:v>Standard</c:v>
                  </c:pt>
                  <c:pt idx="2">
                    <c:v>Premium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22.22</c:v>
                </c:pt>
                <c:pt idx="2">
                  <c:v>14.29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7DCEA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</c:scaling>
        <c:delete val="0"/>
        <c:axPos val="l"/>
        <c:majorGridlines>
          <c:spPr>
            <a:ln w="9525" cap="flat">
              <a:solidFill>
                <a:srgbClr val="E7EA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Monthly</c:v>
                  </c:pt>
                  <c:pt idx="1">
                    <c:v>Annual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55.56</c:v>
                </c:pt>
                <c:pt idx="1">
                  <c:v>8.33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7DCEA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</c:scaling>
        <c:delete val="0"/>
        <c:axPos val="l"/>
        <c:majorGridlines>
          <c:spPr>
            <a:ln w="9525" cap="flat">
              <a:solidFill>
                <a:srgbClr val="E7EA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Karnataka</c:v>
                  </c:pt>
                  <c:pt idx="1">
                    <c:v>Meghalaya</c:v>
                  </c:pt>
                  <c:pt idx="2">
                    <c:v>Telangana</c:v>
                  </c:pt>
                  <c:pt idx="3">
                    <c:v>Delhi</c:v>
                  </c:pt>
                  <c:pt idx="4">
                    <c:v>Maharashtra</c:v>
                  </c:pt>
                  <c:pt idx="5">
                    <c:v>Nagaland</c:v>
                  </c:pt>
                  <c:pt idx="6">
                    <c:v>Rajasthan</c:v>
                  </c:pt>
                  <c:pt idx="7">
                    <c:v>Kathmandu</c:v>
                  </c:pt>
                  <c:pt idx="8">
                    <c:v>Uttar Pradesh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100</c:v>
                </c:pt>
                <c:pt idx="1">
                  <c:v>66.67</c:v>
                </c:pt>
                <c:pt idx="2">
                  <c:v>50</c:v>
                </c:pt>
                <c:pt idx="3">
                  <c:v>25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05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7DCEA"/>
            </a:solidFill>
            <a:prstDash val="solid"/>
            <a:round/>
          </a:ln>
        </c:spPr>
        <c:txPr>
          <a:bodyPr rot="1800000"/>
          <a:lstStyle/>
          <a:p>
            <a:pPr>
              <a:defRPr sz="10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9525" cap="flat">
              <a:solidFill>
                <a:srgbClr val="E7EA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1C9C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9C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9C6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C9C6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Low</c:v>
                  </c:pt>
                  <c:pt idx="1">
                    <c:v>Medium</c:v>
                  </c:pt>
                  <c:pt idx="2">
                    <c:v>High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</c:v>
                </c:pt>
                <c:pt idx="1">
                  <c:v>2</c:v>
                </c:pt>
                <c:pt idx="2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7DCE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828800"/>
            <a:ext cx="5486400" cy="548640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931920"/>
            <a:ext cx="3840480" cy="3840480"/>
          </a:xfrm>
          <a:prstGeom prst="ellipse">
            <a:avLst/>
          </a:prstGeom>
          <a:solidFill>
            <a:srgbClr val="232C6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  ·  RETENTION INTELLIGENCE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317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Churn Analysis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why customers leave — and where to focus retention effort — using SQL data modeling and Python analytics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22960" y="4251960"/>
            <a:ext cx="2011680" cy="0"/>
          </a:xfrm>
          <a:prstGeom prst="line">
            <a:avLst/>
          </a:prstGeom>
          <a:noFill/>
          <a:ln w="31750">
            <a:solidFill>
              <a:srgbClr val="E8543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480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Munna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828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(Pandas, NumPy)  ·  SQLite  ·  Matplotlib &amp; Seaborn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customers cancel — and what to do about it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revenue depends on retention. This project builds a single source of truth from raw customer, subscription, and support records, then quantifies churn drivers so the business can act on them — not just report on them.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026664"/>
            <a:ext cx="146304" cy="146304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9443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0098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churn, retention, ARPU, tenure and revenue at risk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986784"/>
            <a:ext cx="146304" cy="146304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904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26110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plans, contracts and behaviors drive cancellations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946904"/>
            <a:ext cx="146304" cy="146304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864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Prioritize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22122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every customer's churn risk to focus retention spend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60920" y="1417320"/>
            <a:ext cx="4297680" cy="4754880"/>
          </a:xfrm>
          <a:prstGeom prst="roundRect">
            <a:avLst>
              <a:gd name="adj" fmla="val 1702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68096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680960" y="21488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8869680" y="2203704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tables integrated (customer, subscription, support)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0" y="31546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8869680" y="3209544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 profiled end-to-end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680960" y="41605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20+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8869680" y="4215384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fields for analysis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680960" y="51663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8869680" y="5221224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KPIs tracked for the business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680960" y="5532120"/>
            <a:ext cx="3611880" cy="0"/>
          </a:xfrm>
          <a:prstGeom prst="line">
            <a:avLst/>
          </a:prstGeom>
          <a:noFill/>
          <a:ln w="12700">
            <a:solidFill>
              <a:srgbClr val="3B459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80960" y="566928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Tooling: Python, Pandas, NumPy, SQLite3, Matplotlib, Seaborn, Jupyter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relational tables, one analytical view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SQLite database (customer_churn.db) holds three normalized tables. Each is read with pandas.read_sql, cleaned independently, then joined into a single master DataFrame on customerid.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429000" cy="1783080"/>
          </a:xfrm>
          <a:prstGeom prst="roundRect">
            <a:avLst>
              <a:gd name="adj" fmla="val 359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33172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31343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db_customer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9260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customerid, name, country, state, gender, dob, interests, pincode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42816" y="2148840"/>
            <a:ext cx="3429000" cy="1783080"/>
          </a:xfrm>
          <a:prstGeom prst="roundRect">
            <a:avLst>
              <a:gd name="adj" fmla="val 359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71416" y="233172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2A3A8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71416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111496" y="231343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db_subscription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471416" y="29260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customerid, plan_type, contract_type, subscription_start_date, renewal_date, cancellation_date, monthly_charges, cltv, churn_score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936992" y="2148840"/>
            <a:ext cx="3429000" cy="1783080"/>
          </a:xfrm>
          <a:prstGeom prst="roundRect">
            <a:avLst>
              <a:gd name="adj" fmla="val 359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65592" y="233172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3E4FB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165592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805672" y="231343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db_support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165592" y="29260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customerid, complaint_date, escalations, csat_score, comment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0" y="3931920"/>
            <a:ext cx="0" cy="502920"/>
          </a:xfrm>
          <a:prstGeom prst="line">
            <a:avLst/>
          </a:prstGeom>
          <a:noFill/>
          <a:ln w="19050">
            <a:solidFill>
              <a:srgbClr val="8A93A6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715000" y="3931920"/>
            <a:ext cx="0" cy="502920"/>
          </a:xfrm>
          <a:prstGeom prst="line">
            <a:avLst/>
          </a:prstGeom>
          <a:noFill/>
          <a:ln w="19050">
            <a:solidFill>
              <a:srgbClr val="8A93A6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144000" y="3931920"/>
            <a:ext cx="0" cy="502920"/>
          </a:xfrm>
          <a:prstGeom prst="line">
            <a:avLst/>
          </a:prstGeom>
          <a:noFill/>
          <a:ln w="19050">
            <a:solidFill>
              <a:srgbClr val="8A93A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651760" y="4526280"/>
            <a:ext cx="685800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2926080" y="464515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DataFrame  ·  df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2926080" y="5029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rows × 20+ columns  —  merged left-to-left on customerid, ready for feature engineering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897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checkpoint: cleaned &amp; merged data is written to churn_data.csv for downstream reuse.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cleaning: from raw records to analysis-ready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146304" cy="146304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4356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column names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75564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name → customer_name for clarity across joins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706624"/>
            <a:ext cx="146304" cy="146304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6060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low-value fields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92608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interests and pincode; unused col_1 and free-text comment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877056"/>
            <a:ext cx="146304" cy="146304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7764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data types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09651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dob and all subscription/complaint dates from text to datetime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5047488"/>
            <a:ext cx="146304" cy="146304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94690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categories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266944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Collapsed inconsistent gender labels (Men/Women → Male/Female)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1536192"/>
            <a:ext cx="146304" cy="146304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0" y="14356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missing values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175564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missing country using a state → country lookup built from complete rows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2706624"/>
            <a:ext cx="146304" cy="146304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0" y="26060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De-duplicate support records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292608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each customer's most recent complaint; aggregated complaint_count first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63640" y="3877056"/>
            <a:ext cx="146304" cy="146304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83680" y="37764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Re-cast merged fields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409651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Re-applied datetime typing to complaint_date after the join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63640" y="5047488"/>
            <a:ext cx="146304" cy="146304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83680" y="494690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after each step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583680" y="5266944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 .info() / .isna() checks to confirm every fix before moving 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fields built to power the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70048" cy="4114800"/>
          </a:xfrm>
          <a:prstGeom prst="roundRect">
            <a:avLst>
              <a:gd name="adj" fmla="val 2740"/>
            </a:avLst>
          </a:prstGeom>
          <a:solidFill>
            <a:srgbClr val="EEF3FC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737360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691640"/>
            <a:ext cx="1984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flag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23160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70048"/>
            <a:ext cx="23042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if cancellation_date is present, else 0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977640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224528"/>
            <a:ext cx="23042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target used for every churn KPI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508760"/>
            <a:ext cx="2670048" cy="4114800"/>
          </a:xfrm>
          <a:prstGeom prst="roundRect">
            <a:avLst>
              <a:gd name="adj" fmla="val 2740"/>
            </a:avLst>
          </a:prstGeom>
          <a:solidFill>
            <a:srgbClr val="EEF3FC"/>
          </a:solidFill>
          <a:ln/>
        </p:spPr>
      </p:sp>
      <p:sp>
        <p:nvSpPr>
          <p:cNvPr id="12" name="Shape 10"/>
          <p:cNvSpPr/>
          <p:nvPr/>
        </p:nvSpPr>
        <p:spPr>
          <a:xfrm>
            <a:off x="3566160" y="1737360"/>
            <a:ext cx="201168" cy="201168"/>
          </a:xfrm>
          <a:prstGeom prst="ellipse">
            <a:avLst/>
          </a:prstGeom>
          <a:solidFill>
            <a:srgbClr val="2A3A8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886200" y="1691640"/>
            <a:ext cx="1984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tenure_days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2423160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A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2670048"/>
            <a:ext cx="23042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(or today) minus subscription_start_date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3977640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A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4224528"/>
            <a:ext cx="23042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customer lifespan for loyalty analysis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508760"/>
            <a:ext cx="2670048" cy="4114800"/>
          </a:xfrm>
          <a:prstGeom prst="roundRect">
            <a:avLst>
              <a:gd name="adj" fmla="val 2740"/>
            </a:avLst>
          </a:prstGeom>
          <a:solidFill>
            <a:srgbClr val="EEF3FC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0" y="1737360"/>
            <a:ext cx="201168" cy="201168"/>
          </a:xfrm>
          <a:prstGeom prst="ellipse">
            <a:avLst/>
          </a:prstGeom>
          <a:solidFill>
            <a:srgbClr val="3E4FB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20840" y="1691640"/>
            <a:ext cx="1984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complaint_count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2423160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E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2670048"/>
            <a:ext cx="23042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support tickets per customerid before de-duplication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3977640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E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4224528"/>
            <a:ext cx="23042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for support burden per customer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052560" y="1508760"/>
            <a:ext cx="2670048" cy="4114800"/>
          </a:xfrm>
          <a:prstGeom prst="roundRect">
            <a:avLst>
              <a:gd name="adj" fmla="val 2740"/>
            </a:avLst>
          </a:prstGeom>
          <a:solidFill>
            <a:srgbClr val="EEF3FC"/>
          </a:solidFill>
          <a:ln/>
        </p:spPr>
      </p:sp>
      <p:sp>
        <p:nvSpPr>
          <p:cNvPr id="26" name="Shape 24"/>
          <p:cNvSpPr/>
          <p:nvPr/>
        </p:nvSpPr>
        <p:spPr>
          <a:xfrm>
            <a:off x="9235440" y="1737360"/>
            <a:ext cx="201168" cy="201168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555480" y="1691640"/>
            <a:ext cx="1984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churn_risk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235440" y="2423160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9235440" y="2670048"/>
            <a:ext cx="23042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 churn_score into low (&lt;50) / med (50–69) / high (≥70)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235440" y="3977640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9235440" y="4224528"/>
            <a:ext cx="23042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customers for targeted retention action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D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METRICS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business stands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161C4A"/>
          </a:solidFill>
          <a:ln w="12700">
            <a:solidFill>
              <a:srgbClr val="2D377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5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28.6%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791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449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21 customers cancelled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52544" y="150876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161C4A"/>
          </a:solidFill>
          <a:ln w="12700">
            <a:solidFill>
              <a:srgbClr val="2D377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26864" y="17830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DD3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71.4%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626864" y="26791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Rate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26864" y="30449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still active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56448" y="150876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161C4A"/>
          </a:solidFill>
          <a:ln w="12700">
            <a:solidFill>
              <a:srgbClr val="2D377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30768" y="17830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₹18.9K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430768" y="26791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 / month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430768" y="30449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revenue per user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161C4A"/>
          </a:solidFill>
          <a:ln w="12700">
            <a:solidFill>
              <a:srgbClr val="2D377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3434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~4.2 yrs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2395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Tenure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60527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1,547 days average lifespan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52544" y="406908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161C4A"/>
          </a:solidFill>
          <a:ln w="12700">
            <a:solidFill>
              <a:srgbClr val="2D377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26864" y="43434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5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₹73.9K</a:t>
            </a:r>
            <a:endParaRPr lang="en-US" sz="4000" dirty="0"/>
          </a:p>
        </p:txBody>
      </p:sp>
      <p:sp>
        <p:nvSpPr>
          <p:cNvPr id="22" name="Text 20"/>
          <p:cNvSpPr txBox="1"/>
          <p:nvPr/>
        </p:nvSpPr>
        <p:spPr>
          <a:xfrm>
            <a:off x="4626864" y="52395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626864" y="560527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value tied to churned users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56448" y="406908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161C4A"/>
          </a:solidFill>
          <a:ln w="12700">
            <a:solidFill>
              <a:srgbClr val="2D377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30768" y="43434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19.1%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8430768" y="52395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Rate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430768" y="560527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tickets marked escalated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DRIVERS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Entry-level plans and monthly contracts churn hardest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by Plan Type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783080"/>
          <a:ext cx="53949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309360" y="14173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by Contract Type</a:t>
            </a:r>
            <a:endParaRPr lang="en-US" sz="13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63640" y="1783080"/>
          <a:ext cx="53949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5989320"/>
            <a:ext cx="11201400" cy="548640"/>
          </a:xfrm>
          <a:prstGeom prst="roundRect">
            <a:avLst>
              <a:gd name="adj" fmla="val 10000"/>
            </a:avLst>
          </a:prstGeom>
          <a:solidFill>
            <a:srgbClr val="EEF3FC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85800" y="59893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Basic-plan and month-to-month customers churn 4–7x more than Premium/Annual customers — the clearest lever for retention offers.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DRIVERS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churn concentration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786384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549640" y="1463040"/>
            <a:ext cx="3154680" cy="4434840"/>
          </a:xfrm>
          <a:prstGeom prst="roundRect">
            <a:avLst>
              <a:gd name="adj" fmla="val 2319"/>
            </a:avLst>
          </a:prstGeom>
          <a:solidFill>
            <a:srgbClr val="EEF3F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77824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THIS CHART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20574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Karnataka, Meghalaya and Telangana show the highest churn concentration, while several states show none in this sample.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778240" y="3383280"/>
            <a:ext cx="2697480" cy="0"/>
          </a:xfrm>
          <a:prstGeom prst="line">
            <a:avLst/>
          </a:prstGeom>
          <a:noFill/>
          <a:ln w="12700">
            <a:solidFill>
              <a:srgbClr val="D7DC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77824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778240" y="393192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21-customer sample — several states have only 1–2 customers, so percentages swing sharply. Treat as directional, not conclusive, until validated on more data.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SIGNALS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escalations track closely with churn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029200" cy="4160520"/>
          </a:xfrm>
          <a:prstGeom prst="roundRect">
            <a:avLst>
              <a:gd name="adj" fmla="val 1758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↔ CHURN CORRELATION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85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+0.47</a:t>
            </a:r>
            <a:endParaRPr lang="en-US" sz="6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3756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moderate positive correlation: customers whose support tickets get escalated are meaningfully more likely to cancel.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4343400"/>
            <a:ext cx="4297680" cy="0"/>
          </a:xfrm>
          <a:prstGeom prst="line">
            <a:avLst/>
          </a:prstGeom>
          <a:noFill/>
          <a:ln w="12700">
            <a:solidFill>
              <a:srgbClr val="3B459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526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19.1%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983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support tickets are escalated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063240" y="4526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0.43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4983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support tickets per customer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98932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Risk Segmentation (by churn_score)</a:t>
            </a:r>
            <a:endParaRPr lang="en-US" sz="13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5897880" y="1920240"/>
          <a:ext cx="57607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5989320" y="562356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21 customers score in the “high” risk band and warrant proactive outreach before renewal.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analysis to 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109960" cy="1051560"/>
          </a:xfrm>
          <a:prstGeom prst="roundRect">
            <a:avLst>
              <a:gd name="adj" fmla="val 6087"/>
            </a:avLst>
          </a:prstGeom>
          <a:solidFill>
            <a:srgbClr val="EEF3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163677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Basic-plan, monthly customers first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198424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segment churns 4-7x more than Premium/Annual — prioritize retention offers and upgrade incentives here.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15768"/>
            <a:ext cx="11109960" cy="1051560"/>
          </a:xfrm>
          <a:prstGeom prst="roundRect">
            <a:avLst>
              <a:gd name="adj" fmla="val 6087"/>
            </a:avLst>
          </a:prstGeom>
          <a:solidFill>
            <a:srgbClr val="EEF3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715768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284378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Incentivize annual contracts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3191256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month-to-month customers onto annual terms with a modest discount to lock in tenure and cut churn from 55.6% toward 8.3%.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922776"/>
            <a:ext cx="11109960" cy="1051560"/>
          </a:xfrm>
          <a:prstGeom prst="roundRect">
            <a:avLst>
              <a:gd name="adj" fmla="val 6087"/>
            </a:avLst>
          </a:prstGeom>
          <a:solidFill>
            <a:srgbClr val="EEF3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922776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405079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escalation pipeline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737360" y="4398264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+0.47 correlation to churn, reducing escalations (faster first-response, better agent training) should directly protect revenue.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129784"/>
            <a:ext cx="11109960" cy="1051560"/>
          </a:xfrm>
          <a:prstGeom prst="roundRect">
            <a:avLst>
              <a:gd name="adj" fmla="val 6087"/>
            </a:avLst>
          </a:prstGeom>
          <a:solidFill>
            <a:srgbClr val="EEF3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5129784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52578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proactive save program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737360" y="560527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the 6 “high-risk” customers (churn_score ≥70) to a dedicated retention specialist before their renewal date.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D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was built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724912" cy="1920240"/>
          </a:xfrm>
          <a:prstGeom prst="roundRect">
            <a:avLst>
              <a:gd name="adj" fmla="val 3810"/>
            </a:avLst>
          </a:prstGeom>
          <a:solidFill>
            <a:srgbClr val="161C4A"/>
          </a:solidFill>
          <a:ln w="12700">
            <a:solidFill>
              <a:srgbClr val="2D377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2267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3 tables from customer_churn.db via sqlite3 + pandas.read_sql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28416" y="2560320"/>
            <a:ext cx="164592" cy="0"/>
          </a:xfrm>
          <a:prstGeom prst="line">
            <a:avLst/>
          </a:prstGeom>
          <a:noFill/>
          <a:ln w="19050">
            <a:solidFill>
              <a:srgbClr val="5A67B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47288" y="1600200"/>
            <a:ext cx="2724912" cy="1920240"/>
          </a:xfrm>
          <a:prstGeom prst="roundRect">
            <a:avLst>
              <a:gd name="adj" fmla="val 3810"/>
            </a:avLst>
          </a:prstGeom>
          <a:solidFill>
            <a:srgbClr val="161C4A"/>
          </a:solidFill>
          <a:ln w="12700">
            <a:solidFill>
              <a:srgbClr val="2D377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75888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675888" y="224028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675888" y="2606040"/>
            <a:ext cx="2267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types, standardize categories, impute &amp; de-duplicate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27064" y="2560320"/>
            <a:ext cx="164592" cy="0"/>
          </a:xfrm>
          <a:prstGeom prst="line">
            <a:avLst/>
          </a:prstGeom>
          <a:noFill/>
          <a:ln w="19050">
            <a:solidFill>
              <a:srgbClr val="5A67B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45936" y="1600200"/>
            <a:ext cx="2724912" cy="1920240"/>
          </a:xfrm>
          <a:prstGeom prst="roundRect">
            <a:avLst>
              <a:gd name="adj" fmla="val 3810"/>
            </a:avLst>
          </a:prstGeom>
          <a:solidFill>
            <a:srgbClr val="161C4A"/>
          </a:solidFill>
          <a:ln w="12700">
            <a:solidFill>
              <a:srgbClr val="2D377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74536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574536" y="224028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574536" y="2606040"/>
            <a:ext cx="2267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tables; derive churn flag, tenure, risk segments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125712" y="2560320"/>
            <a:ext cx="164592" cy="0"/>
          </a:xfrm>
          <a:prstGeom prst="line">
            <a:avLst/>
          </a:prstGeom>
          <a:noFill/>
          <a:ln w="19050">
            <a:solidFill>
              <a:srgbClr val="5A67B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244584" y="1600200"/>
            <a:ext cx="2724912" cy="1920240"/>
          </a:xfrm>
          <a:prstGeom prst="roundRect">
            <a:avLst>
              <a:gd name="adj" fmla="val 3810"/>
            </a:avLst>
          </a:prstGeom>
          <a:solidFill>
            <a:srgbClr val="161C4A"/>
          </a:solidFill>
          <a:ln w="12700">
            <a:solidFill>
              <a:srgbClr val="2D377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473184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473184" y="224028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473184" y="2606040"/>
            <a:ext cx="2267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KPIs; visualize with Matplotlib &amp; Seaborn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977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343400"/>
            <a:ext cx="896112" cy="457200"/>
          </a:xfrm>
          <a:prstGeom prst="roundRect">
            <a:avLst>
              <a:gd name="adj" fmla="val 50000"/>
            </a:avLst>
          </a:prstGeom>
          <a:solidFill>
            <a:srgbClr val="2A3480"/>
          </a:solidFill>
          <a:ln w="12700">
            <a:solidFill>
              <a:srgbClr val="3F4B9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4343400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627632" y="4343400"/>
            <a:ext cx="1664208" cy="457200"/>
          </a:xfrm>
          <a:prstGeom prst="roundRect">
            <a:avLst>
              <a:gd name="adj" fmla="val 50000"/>
            </a:avLst>
          </a:prstGeom>
          <a:solidFill>
            <a:srgbClr val="2A3480"/>
          </a:solidFill>
          <a:ln w="12700">
            <a:solidFill>
              <a:srgbClr val="3F4B9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627632" y="434340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NumPy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474720" y="4343400"/>
            <a:ext cx="992124" cy="457200"/>
          </a:xfrm>
          <a:prstGeom prst="roundRect">
            <a:avLst>
              <a:gd name="adj" fmla="val 50000"/>
            </a:avLst>
          </a:prstGeom>
          <a:solidFill>
            <a:srgbClr val="2A3480"/>
          </a:solidFill>
          <a:ln w="12700">
            <a:solidFill>
              <a:srgbClr val="3F4B9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474720" y="4343400"/>
            <a:ext cx="992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SQLite3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649724" y="4343400"/>
            <a:ext cx="2240280" cy="457200"/>
          </a:xfrm>
          <a:prstGeom prst="roundRect">
            <a:avLst>
              <a:gd name="adj" fmla="val 50000"/>
            </a:avLst>
          </a:prstGeom>
          <a:solidFill>
            <a:srgbClr val="2A3480"/>
          </a:solidFill>
          <a:ln w="12700">
            <a:solidFill>
              <a:srgbClr val="3F4B9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649724" y="4343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&amp; Seaborn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072884" y="4343400"/>
            <a:ext cx="1856232" cy="457200"/>
          </a:xfrm>
          <a:prstGeom prst="roundRect">
            <a:avLst>
              <a:gd name="adj" fmla="val 50000"/>
            </a:avLst>
          </a:prstGeom>
          <a:solidFill>
            <a:srgbClr val="2A3480"/>
          </a:solidFill>
          <a:ln w="12700">
            <a:solidFill>
              <a:srgbClr val="3F4B9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072884" y="4343400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5257800"/>
            <a:ext cx="11064240" cy="0"/>
          </a:xfrm>
          <a:prstGeom prst="line">
            <a:avLst/>
          </a:prstGeom>
          <a:noFill/>
          <a:ln w="12700">
            <a:solidFill>
              <a:srgbClr val="2D377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8640" y="5486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code, notebook, and dataset available in the project repository.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2026-09-26T16:30:40Z</dcterms:created>
  <dcterms:modified xsi:type="dcterms:W3CDTF">2026-09-26T16:30:40Z</dcterms:modified>
</cp:coreProperties>
</file>